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Gill Sans MT" panose="020B0502020104020203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Manrope" panose="020B0604020202020204" charset="0"/>
      <p:regular r:id="rId19"/>
    </p:embeddedFont>
    <p:embeddedFont>
      <p:font typeface="Manrope Bold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40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567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126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1023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504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817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3174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602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8704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7667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3454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7915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9034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93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6079" y="4653258"/>
            <a:ext cx="2575099" cy="188565"/>
          </a:xfrm>
          <a:prstGeom prst="roundRect">
            <a:avLst>
              <a:gd name="adj" fmla="val 47365"/>
            </a:avLst>
          </a:prstGeom>
          <a:solidFill>
            <a:srgbClr val="FFD7C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40" y="4697942"/>
            <a:ext cx="99194" cy="991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995" y="4690464"/>
            <a:ext cx="273471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CODEBASICS VIRTUAL INTERNSHIP · AUGUST 2026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724719" y="395959"/>
            <a:ext cx="8151763" cy="83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Wavecon Telecom – </a:t>
            </a:r>
          </a:p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5G Business Impact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873829" y="1472434"/>
            <a:ext cx="363376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Dashboard Analysis · Business Intelligence &amp; Strategy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24718" y="1863403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318388" y="2513184"/>
            <a:ext cx="4500423" cy="816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 </a:t>
            </a:r>
          </a:p>
          <a:p>
            <a:pPr algn="ctr">
              <a:lnSpc>
                <a:spcPct val="133000"/>
              </a:lnSpc>
            </a:pPr>
            <a:r>
              <a:rPr lang="en-US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Wani Umar</a:t>
            </a:r>
            <a:r>
              <a:rPr lang="en-US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</a:t>
            </a:r>
          </a:p>
          <a:p>
            <a:pPr algn="ctr">
              <a:lnSpc>
                <a:spcPct val="133000"/>
              </a:lnSpc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Data Analytics Intern · Codebasics Virtual Internship Program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20" y="8323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20" y="140598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Wavecon Telecom recently launched 5G services across key markets. Leadership requires a structured evaluation of the launch's commercial impact — measuring revenue shifts, KPI performance, plan adoption, and regional outcomes to guide data-driven decisions.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57908"/>
            <a:ext cx="123974" cy="1239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2138883"/>
            <a:ext cx="2634555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2229445"/>
            <a:ext cx="263455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Revenue Before &amp; After 5G Launch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6119" y="2691557"/>
            <a:ext cx="26345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Quantify revenue impact by comparing pre- and post-launch performance across all markets.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4648" y="1957908"/>
            <a:ext cx="123974" cy="12397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54648" y="2138883"/>
            <a:ext cx="2634630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2" name="Text 8"/>
          <p:cNvSpPr/>
          <p:nvPr/>
        </p:nvSpPr>
        <p:spPr>
          <a:xfrm>
            <a:off x="3254648" y="2229447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Core Business KPIs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54648" y="2497710"/>
            <a:ext cx="26346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 ARPU, TAU, and TUsU to gauge subscriber engagement and monetization.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3252" y="1957908"/>
            <a:ext cx="123974" cy="12397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13254" y="2138883"/>
            <a:ext cx="2634555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6" name="Text 11"/>
          <p:cNvSpPr/>
          <p:nvPr/>
        </p:nvSpPr>
        <p:spPr>
          <a:xfrm>
            <a:off x="6013254" y="2229447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Underperforming Metrics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013254" y="2497710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Pinpoint metrics falling below targets for corrective action.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19413"/>
            <a:ext cx="123974" cy="12397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6119" y="3700388"/>
            <a:ext cx="4013820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0" name="Text 14"/>
          <p:cNvSpPr/>
          <p:nvPr/>
        </p:nvSpPr>
        <p:spPr>
          <a:xfrm>
            <a:off x="496119" y="3790950"/>
            <a:ext cx="40138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Plan-Level Performance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96119" y="4059213"/>
            <a:ext cx="40138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which 5G plans drive revenue and adoption versus those underperforming.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3913" y="3519413"/>
            <a:ext cx="123974" cy="12397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633915" y="3700388"/>
            <a:ext cx="4013895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4" name="Text 17"/>
          <p:cNvSpPr/>
          <p:nvPr/>
        </p:nvSpPr>
        <p:spPr>
          <a:xfrm>
            <a:off x="4633915" y="3790952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Business Actions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633915" y="4059215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 actionable recommendations to optimize growth and address gaps.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20" y="566740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Dashboard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96120" y="1048345"/>
            <a:ext cx="8151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BI dashboard consolidates Wavecon's 5G performance into a single executive view — enabling real-time monitoring across revenue, subscriber metrics, plan adoption, and regional trends. Designed for C-suite consumption, it surfaces the metrics that matter most.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1480765"/>
            <a:ext cx="4028405" cy="1036290"/>
          </a:xfrm>
          <a:prstGeom prst="roundRect">
            <a:avLst>
              <a:gd name="adj" fmla="val 942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377" y="1594024"/>
            <a:ext cx="325562" cy="325562"/>
          </a:xfrm>
          <a:prstGeom prst="ellipse">
            <a:avLst/>
          </a:prstGeom>
          <a:solidFill>
            <a:srgbClr val="FF7047"/>
          </a:solidFill>
          <a:ln/>
        </p:spPr>
      </p:sp>
      <p:sp>
        <p:nvSpPr>
          <p:cNvPr id="8" name="Text 6"/>
          <p:cNvSpPr/>
          <p:nvPr/>
        </p:nvSpPr>
        <p:spPr>
          <a:xfrm>
            <a:off x="698897" y="1665238"/>
            <a:ext cx="146521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9377" y="2014538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377" y="2240979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monthly revenue tracked before and after 5G launch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9478" y="1480765"/>
            <a:ext cx="4028405" cy="1036290"/>
          </a:xfrm>
          <a:prstGeom prst="roundRect">
            <a:avLst>
              <a:gd name="adj" fmla="val 942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2734" y="1594024"/>
            <a:ext cx="325562" cy="325562"/>
          </a:xfrm>
          <a:prstGeom prst="ellipse">
            <a:avLst/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4822256" y="1665240"/>
            <a:ext cx="146521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32736" y="2014540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32736" y="2240979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Revenue Per User — subscriber monetization benchmark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6119" y="2612008"/>
            <a:ext cx="4028405" cy="1036290"/>
          </a:xfrm>
          <a:prstGeom prst="roundRect">
            <a:avLst>
              <a:gd name="adj" fmla="val 942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377" y="2725266"/>
            <a:ext cx="325562" cy="325562"/>
          </a:xfrm>
          <a:prstGeom prst="ellipse">
            <a:avLst/>
          </a:prstGeom>
          <a:solidFill>
            <a:srgbClr val="FF7047"/>
          </a:solidFill>
          <a:ln/>
        </p:spPr>
      </p:sp>
      <p:sp>
        <p:nvSpPr>
          <p:cNvPr id="18" name="Text 16"/>
          <p:cNvSpPr/>
          <p:nvPr/>
        </p:nvSpPr>
        <p:spPr>
          <a:xfrm>
            <a:off x="698897" y="2796480"/>
            <a:ext cx="146521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377" y="3145780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377" y="3372222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Active Users — engaged subscriber base on 5G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9478" y="2612008"/>
            <a:ext cx="4028405" cy="1036290"/>
          </a:xfrm>
          <a:prstGeom prst="roundRect">
            <a:avLst>
              <a:gd name="adj" fmla="val 942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2734" y="2725266"/>
            <a:ext cx="325562" cy="325562"/>
          </a:xfrm>
          <a:prstGeom prst="ellipse">
            <a:avLst/>
          </a:prstGeom>
          <a:solidFill>
            <a:srgbClr val="FF7047"/>
          </a:solidFill>
          <a:ln/>
        </p:spPr>
      </p:sp>
      <p:sp>
        <p:nvSpPr>
          <p:cNvPr id="23" name="Text 21"/>
          <p:cNvSpPr/>
          <p:nvPr/>
        </p:nvSpPr>
        <p:spPr>
          <a:xfrm>
            <a:off x="4822256" y="2796482"/>
            <a:ext cx="146521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32736" y="3145782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TUsU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2736" y="3372222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Unique SIM Users — distinct SIM activations on network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6119" y="3743251"/>
            <a:ext cx="4028405" cy="1036290"/>
          </a:xfrm>
          <a:prstGeom prst="roundRect">
            <a:avLst>
              <a:gd name="adj" fmla="val 942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377" y="3856509"/>
            <a:ext cx="325562" cy="325562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897" y="3946029"/>
            <a:ext cx="146521" cy="14652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09377" y="4277023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Trend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09377" y="4503465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Month-over-month performance trajectory across all KPIs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19478" y="3743251"/>
            <a:ext cx="4028405" cy="1036290"/>
          </a:xfrm>
          <a:prstGeom prst="roundRect">
            <a:avLst>
              <a:gd name="adj" fmla="val 942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32734" y="3856509"/>
            <a:ext cx="325562" cy="325562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2256" y="3946031"/>
            <a:ext cx="146521" cy="146521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732736" y="4277025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Performance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732736" y="4503465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Regional revenue and adoption breakdown by geography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20" y="553717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5G Launch on Revenue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96120" y="1046559"/>
            <a:ext cx="815176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Post-launch revenue shows a clear uplift trajectory. The chart below illustrates the monthly revenue trend, highlighting the inflection point following 5G activation. Leadership should note the acceleration pattern in months 3–5 post-launch, signaling strong market acceptance.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02135"/>
            <a:ext cx="4614788" cy="308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21413" y="1528388"/>
            <a:ext cx="3426470" cy="1728511"/>
          </a:xfrm>
          <a:prstGeom prst="roundRect">
            <a:avLst>
              <a:gd name="adj" fmla="val 4813"/>
            </a:avLst>
          </a:prstGeom>
          <a:solidFill>
            <a:srgbClr val="FF7047"/>
          </a:solidFill>
          <a:ln/>
        </p:spPr>
      </p:sp>
      <p:sp>
        <p:nvSpPr>
          <p:cNvPr id="8" name="Text 5"/>
          <p:cNvSpPr/>
          <p:nvPr/>
        </p:nvSpPr>
        <p:spPr>
          <a:xfrm>
            <a:off x="5416081" y="1589858"/>
            <a:ext cx="320560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Revenue Insight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16081" y="1860872"/>
            <a:ext cx="3205609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5G launch generated a </a:t>
            </a: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+94% revenue uplift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by Month 6 — from $17M to $33M — demonstrating strong commercial traction and validating the investment thesis.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16081" y="2500536"/>
            <a:ext cx="3205609" cy="14288"/>
          </a:xfrm>
          <a:prstGeom prst="roundRect">
            <a:avLst>
              <a:gd name="adj" fmla="val 49998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416081" y="2653085"/>
            <a:ext cx="320560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growth accelerated post-launch, with the steepest gains in Months 4–6 as adoption matured.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20" y="71035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KPI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20" y="128394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core KPIs define Wavecon's 5G commercial health. The comparison below benchmarks pre- and post-launch performance, highlighting areas of strength and those requiring intervention.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20391"/>
            <a:ext cx="4013895" cy="946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530" y="1958653"/>
            <a:ext cx="368022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1530" y="2231678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+94% uplift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post-launch. Strong month-over-month growth, driven by new subscriber additions and plan upgrades.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9" y="1820391"/>
            <a:ext cx="4013895" cy="946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9398" y="1958655"/>
            <a:ext cx="368022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ARPU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29398" y="2231680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+38% increase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Average Revenue Per User. 5G premium plans are successfully upselling the existing base.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90838"/>
            <a:ext cx="4013895" cy="946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30" y="3029099"/>
            <a:ext cx="368022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TAU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91530" y="3302124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+52% growth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Total Active Users. Strong 5G adoption, though churn risk remains in legacy segments.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9" y="2890838"/>
            <a:ext cx="4013895" cy="946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29398" y="3029101"/>
            <a:ext cx="368022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TUsU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29398" y="3302126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+47% increase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Unique SIM activations. Indicates healthy new customer acquisition alongside base migration.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96120" y="3976836"/>
            <a:ext cx="8151763" cy="694432"/>
          </a:xfrm>
          <a:prstGeom prst="roundRect">
            <a:avLst>
              <a:gd name="adj" fmla="val 16077"/>
            </a:avLst>
          </a:prstGeom>
          <a:solidFill>
            <a:srgbClr val="FFD7C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92" y="4156621"/>
            <a:ext cx="155004" cy="1239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9072" y="4131768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Finding: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All four KPIs show positive post-launch momentum. ARPU and TAU are the strongest performers, confirming 5G's value proposition resonates with both new and existing customers.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">
            <a:extLst>
              <a:ext uri="{FF2B5EF4-FFF2-40B4-BE49-F238E27FC236}">
                <a16:creationId xmlns:a16="http://schemas.microsoft.com/office/drawing/2014/main" id="{AB29A29D-A600-4DB9-E45A-BC6A8B17334E}"/>
              </a:ext>
            </a:extLst>
          </p:cNvPr>
          <p:cNvSpPr/>
          <p:nvPr/>
        </p:nvSpPr>
        <p:spPr>
          <a:xfrm>
            <a:off x="4662413" y="2073697"/>
            <a:ext cx="4103191" cy="2344266"/>
          </a:xfrm>
          <a:prstGeom prst="roundRect">
            <a:avLst>
              <a:gd name="adj" fmla="val 7620"/>
            </a:avLst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496120" y="96366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Performance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20" y="153724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all 5G plans are performing equally. This analysis segments plans into top performers driving growth and underperformers requiring strategic reassessment — enabling targeted resource allocation and portfolio optimization.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6822" y="2073697"/>
            <a:ext cx="4103191" cy="2344266"/>
          </a:xfrm>
          <a:prstGeom prst="roundRect">
            <a:avLst>
              <a:gd name="adj" fmla="val 7620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197671"/>
            <a:ext cx="385524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 Performing Plans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2520255"/>
            <a:ext cx="3855244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5G Premium Unlimited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Highest revenue contributor; strong adoption among enterprise and prosumer segments</a:t>
            </a:r>
            <a:endParaRPr lang="en-US" sz="950" dirty="0"/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5G Business Plus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Rapid growth in B2B segment; high ARPU and low churn</a:t>
            </a:r>
            <a:endParaRPr lang="en-US" sz="950" dirty="0"/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5G Starter+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Strong entry-level conversion; effective upsell pathway to premium tiers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796" y="3909417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plans share common traits: competitive pricing, clear value messaging, and strong digital onboarding.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2197673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Underperforming Plans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2520257"/>
            <a:ext cx="3924598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chemeClr val="bg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5G Lite</a:t>
            </a: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Low adoption; unclear differentiation from 4G alternatives; price sensitivity high</a:t>
            </a:r>
            <a:endParaRPr lang="en-US" sz="950" dirty="0">
              <a:solidFill>
                <a:schemeClr val="bg1"/>
              </a:solidFill>
            </a:endParaRP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chemeClr val="bg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5G Family Share</a:t>
            </a: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Below-target revenue; complex structure deterring sign-ups</a:t>
            </a:r>
            <a:endParaRPr lang="en-US" sz="950" dirty="0">
              <a:solidFill>
                <a:schemeClr val="bg1"/>
              </a:solidFill>
            </a:endParaRP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chemeClr val="bg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5G Pay-As-You-Go</a:t>
            </a: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Minimal uptake; customer preference shifting toward unlimited models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28046" y="390941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 actions: simplify messaging, reprice, or consider sunsetting low-adoption SKUs to focus investment.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B509E7D0-C73F-92DE-C681-337C7590980D}"/>
              </a:ext>
            </a:extLst>
          </p:cNvPr>
          <p:cNvSpPr/>
          <p:nvPr/>
        </p:nvSpPr>
        <p:spPr>
          <a:xfrm>
            <a:off x="5504004" y="3225256"/>
            <a:ext cx="3143877" cy="852383"/>
          </a:xfrm>
          <a:prstGeom prst="roundRect">
            <a:avLst>
              <a:gd name="adj" fmla="val 7620"/>
            </a:avLst>
          </a:prstGeom>
          <a:solidFill>
            <a:srgbClr val="FF0000"/>
          </a:solidFill>
          <a:ln/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95125F6-3299-AF30-BD8E-852698BB10B6}"/>
              </a:ext>
            </a:extLst>
          </p:cNvPr>
          <p:cNvSpPr/>
          <p:nvPr/>
        </p:nvSpPr>
        <p:spPr>
          <a:xfrm>
            <a:off x="5508767" y="1440375"/>
            <a:ext cx="3256410" cy="852383"/>
          </a:xfrm>
          <a:prstGeom prst="roundRect">
            <a:avLst>
              <a:gd name="adj" fmla="val 762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496120" y="549922"/>
            <a:ext cx="8151763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Performance Analysis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20" y="1020368"/>
            <a:ext cx="8151763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Geographic performance reveals significant variance across Wavecon's operating cities. Metro hubs are outpacing tier-2 markets, highlighting both the opportunity and the urgency of targeted regional investment strategies.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3496"/>
            <a:ext cx="4787057" cy="3145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47940" y="1532113"/>
            <a:ext cx="3104704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Insights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47940" y="1790256"/>
            <a:ext cx="3104704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8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Top Performers: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Mumbai, Delhi, and Bangalore account for </a:t>
            </a:r>
            <a:r>
              <a:rPr lang="en-US" sz="8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62%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total 5G revenue — reflecting strong digital infrastructure and high-income subscriber density.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547940" y="2395612"/>
            <a:ext cx="3104704" cy="14288"/>
          </a:xfrm>
          <a:prstGeom prst="roundRect">
            <a:avLst>
              <a:gd name="adj" fmla="val 49998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547940" y="2539531"/>
            <a:ext cx="3104704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8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Emerging Markets: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Hyderabad and Chennai show strong growth momentum with untapped potential. Targeted marketing could accelerate adoption.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547940" y="3144887"/>
            <a:ext cx="3104704" cy="14288"/>
          </a:xfrm>
          <a:prstGeom prst="roundRect">
            <a:avLst>
              <a:gd name="adj" fmla="val 49998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547940" y="3288806"/>
            <a:ext cx="3104704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800" b="1" dirty="0">
                <a:solidFill>
                  <a:schemeClr val="bg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Attention Required:</a:t>
            </a:r>
            <a:r>
              <a:rPr lang="en-US" sz="8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Kolkata and Jaipur are significantly underperforming. Root-cause analysis on network quality, pricing, and awareness is recommended.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73585" y="61908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21" y="1162868"/>
            <a:ext cx="8151763" cy="613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5G launch has delivered measurable commercial impact. These key insights synthesize findings across revenue, customer behavior, plan performance, and regional dynamics — forming the foundation for strategic recommendations.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58169"/>
            <a:ext cx="310083" cy="310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1206" y="2258169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Revenue Acceleration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1206" y="2526432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grew </a:t>
            </a: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+94%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within six months of launch — a clear signal of market readiness and effective go-to-market execution.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7" y="2258171"/>
            <a:ext cx="310083" cy="3100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14555" y="2258171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 Uplift Confirms Premium Demand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14555" y="2526434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</a:t>
            </a: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+38% ARPU increase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validates customer willingness to pay for 5G — premium plans are resonating across segments.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369841"/>
            <a:ext cx="310083" cy="3100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1206" y="3369841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Concentration Risk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61206" y="3638104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3 cities drive </a:t>
            </a: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62% of revenue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Over-reliance on metro markets creates vulnerability; tier-2 expansion is a strategic priority.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9467" y="3369843"/>
            <a:ext cx="310083" cy="3100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14555" y="3369843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Portfolio Needs Rationalization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114555" y="3638106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underperforming SKUs are diluting marketing focus. Portfolio simplification will improve conversion and reduce operational complexity.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20" y="710582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96120" y="1116360"/>
            <a:ext cx="8151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8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Based on the analysis, five prioritized recommendations are proposed to maximize 5G ROI, address performance gaps, and position Wavecon for sustained growth in the next planning cycle.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20" y="1466329"/>
            <a:ext cx="8151763" cy="56978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953" y="1679972"/>
            <a:ext cx="142429" cy="1424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8230" y="1570808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High-Performing 5G Plans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958230" y="1762720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Double down on Premium Unlimited and Business Plus with increased digital marketing spend, bundled device offers, and targeted upsell campaigns to the existing 4G base.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20" y="2108820"/>
            <a:ext cx="8151763" cy="56978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953" y="2322463"/>
            <a:ext cx="142429" cy="1424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8230" y="2213299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Rationalize Underperforming SKUs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958230" y="2405211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 a 90-day review of Lite, Family Share, and Pay-As-You-Go plans. Redesign value propositions or sunset SKUs to concentrate resources on proven winners.</a:t>
            </a:r>
            <a:endParaRPr lang="en-US" sz="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20" y="2751311"/>
            <a:ext cx="8151763" cy="56978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953" y="2964954"/>
            <a:ext cx="142429" cy="14242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58230" y="2855790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 Tier-2 City Expansion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958230" y="3047702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targeted campaigns in Hyderabad, Chennai, and Pune. Invest in local partnerships, retail presence, and community-driven awareness programs to close the metro gap.</a:t>
            </a:r>
            <a:endParaRPr lang="en-US" sz="7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20" y="3393802"/>
            <a:ext cx="8151763" cy="56978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953" y="3607445"/>
            <a:ext cx="142429" cy="142429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58230" y="3498281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Monthly KPI Governance</a:t>
            </a:r>
            <a:endParaRPr lang="en-US" sz="900" dirty="0"/>
          </a:p>
        </p:txBody>
      </p:sp>
      <p:sp>
        <p:nvSpPr>
          <p:cNvPr id="21" name="Text 11"/>
          <p:cNvSpPr/>
          <p:nvPr/>
        </p:nvSpPr>
        <p:spPr>
          <a:xfrm>
            <a:off x="958230" y="3690193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Institute a monthly executive review cadence tracking Revenue, ARPU, TAU, and TUsU. Set threshold alerts for early intervention on underperforming metrics.</a:t>
            </a:r>
            <a:endParaRPr lang="en-US" sz="7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20" y="4036293"/>
            <a:ext cx="8151763" cy="569788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1953" y="4249936"/>
            <a:ext cx="142429" cy="142429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958230" y="4140773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Customer Retention</a:t>
            </a:r>
            <a:endParaRPr lang="en-US" sz="900" dirty="0"/>
          </a:p>
        </p:txBody>
      </p:sp>
      <p:sp>
        <p:nvSpPr>
          <p:cNvPr id="25" name="Text 13"/>
          <p:cNvSpPr/>
          <p:nvPr/>
        </p:nvSpPr>
        <p:spPr>
          <a:xfrm>
            <a:off x="958230" y="4332684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Deploy predictive churn models using BI data. Introduce loyalty incentives, proactive support, and personalized plan recommendations to protect the growing subscriber base.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5269" y="302536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120" y="1036888"/>
            <a:ext cx="815176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analysis presents a comprehensive assessment of Wavecon Telecom's 5G launch impact — covering revenue performance, KPI benchmarks, plan effectiveness, and regional dynamics. The findings confirm strong commercial traction and identify clear pathways to accelerate growth.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2151" y="1432917"/>
            <a:ext cx="4098503" cy="2242914"/>
          </a:xfrm>
          <a:prstGeom prst="roundRect">
            <a:avLst>
              <a:gd name="adj" fmla="val 6595"/>
            </a:avLst>
          </a:prstGeom>
          <a:solidFill>
            <a:srgbClr val="FF7047"/>
          </a:solidFill>
          <a:ln/>
        </p:spPr>
      </p:sp>
      <p:sp>
        <p:nvSpPr>
          <p:cNvPr id="7" name="Text 5"/>
          <p:cNvSpPr/>
          <p:nvPr/>
        </p:nvSpPr>
        <p:spPr>
          <a:xfrm>
            <a:off x="524842" y="1517972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4842" y="1763539"/>
            <a:ext cx="3893121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Wavecon needed to evaluate whether its 5G launch delivered measurable commercial impact and identify areas requiring strategic intervention to sustain momentum.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4842" y="2335411"/>
            <a:ext cx="3893121" cy="14288"/>
          </a:xfrm>
          <a:prstGeom prst="roundRect">
            <a:avLst>
              <a:gd name="adj" fmla="val 49998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4842" y="2471068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4842" y="2716634"/>
            <a:ext cx="3893121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+94% revenue growth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+38% ARPU uplift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+52% active user growth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confirm 5G is commercially viable and scaling rapidly.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2076" y="1517974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2076" y="1763539"/>
            <a:ext cx="3950568" cy="8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surged from $17M to $33M within six months of 5G launch</a:t>
            </a:r>
            <a:endParaRPr lang="en-US" sz="800" dirty="0"/>
          </a:p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Premium and Business plans are the primary revenue drivers</a:t>
            </a:r>
            <a:endParaRPr lang="en-US" sz="800" dirty="0"/>
          </a:p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Metro cities (Mumbai, Delhi, Bangalore) dominate 62% of total revenue</a:t>
            </a:r>
            <a:endParaRPr lang="en-US" sz="800" dirty="0"/>
          </a:p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underperforming SKUs require portfolio rationalization</a:t>
            </a:r>
            <a:endParaRPr lang="en-US" sz="800" dirty="0"/>
          </a:p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Tier-2 cities represent the highest untapped growth opportunity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2076" y="2754809"/>
            <a:ext cx="3950568" cy="14288"/>
          </a:xfrm>
          <a:prstGeom prst="roundRect">
            <a:avLst>
              <a:gd name="adj" fmla="val 49998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02076" y="2890467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2076" y="3136032"/>
            <a:ext cx="3950568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 monthly KPI governance dashboard for leadership</a:t>
            </a:r>
            <a:endParaRPr lang="en-US" sz="800" dirty="0"/>
          </a:p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tier-2 city expansion program in Q3</a:t>
            </a:r>
            <a:endParaRPr lang="en-US" sz="800" dirty="0"/>
          </a:p>
          <a:p>
            <a:pPr marL="162560" indent="-162560">
              <a:lnSpc>
                <a:spcPct val="122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plan portfolio review and rationalization by Q4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6120" y="379720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6120" y="3964709"/>
            <a:ext cx="8151763" cy="256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F5BC-DE9C-5CB9-1A0E-14AF2D51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52" y="822961"/>
            <a:ext cx="7773338" cy="2410097"/>
          </a:xfrm>
        </p:spPr>
        <p:txBody>
          <a:bodyPr>
            <a:normAutofit fontScale="90000"/>
          </a:bodyPr>
          <a:lstStyle/>
          <a:p>
            <a:pPr algn="ctr">
              <a:lnSpc>
                <a:spcPct val="122000"/>
              </a:lnSpc>
              <a:spcAft>
                <a:spcPts val="750"/>
              </a:spcAft>
            </a:pPr>
            <a:r>
              <a:rPr lang="en-US" sz="2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br>
              <a:rPr lang="en-US" sz="2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2800" dirty="0"/>
            </a:b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 &amp; Discussion</a:t>
            </a:r>
            <a:b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br>
              <a:rPr lang="en-US" sz="1300" dirty="0"/>
            </a:br>
            <a: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 </a:t>
            </a:r>
            <a:r>
              <a:rPr lang="en-US" sz="1300" b="1" i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Wani Umar</a:t>
            </a:r>
            <a: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b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b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Analytics Intern · </a:t>
            </a:r>
            <a:b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b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1300" i="1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Codebasics</a:t>
            </a:r>
            <a:r>
              <a:rPr lang="en-US" sz="13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Virtual Internship | August 2026</a:t>
            </a:r>
            <a:br>
              <a:rPr lang="en-US" sz="2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100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0">
        <p15:prstTrans prst="drape"/>
      </p:transition>
    </mc:Choice>
    <mc:Fallback>
      <p:transition spd="slow" advTm="0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1302</Words>
  <Application>Microsoft Office PowerPoint</Application>
  <PresentationFormat>On-screen Show (16:9)</PresentationFormat>
  <Paragraphs>120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Gill Sans MT</vt:lpstr>
      <vt:lpstr>Manrope</vt:lpstr>
      <vt:lpstr>Inter</vt:lpstr>
      <vt:lpstr>Arial</vt:lpstr>
      <vt:lpstr>Manrope Bold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Questions &amp; Discussion  Prepared by Wani Umar ·   Data Analytics Intern ·   Codebasics Virtual Internship | August 2026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UM AR</cp:lastModifiedBy>
  <cp:revision>2</cp:revision>
  <dcterms:created xsi:type="dcterms:W3CDTF">2026-08-04T17:12:10Z</dcterms:created>
  <dcterms:modified xsi:type="dcterms:W3CDTF">2026-08-04T18:11:45Z</dcterms:modified>
</cp:coreProperties>
</file>