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804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embeddedFontLst>
    <p:embeddedFont>
      <p:font typeface="Inter" panose="020B0604020202020204" charset="0"/>
      <p:regular r:id="rId14"/>
    </p:embeddedFont>
    <p:embeddedFont>
      <p:font typeface="Manrope" panose="020B0604020202020204" charset="0"/>
      <p:regular r:id="rId15"/>
    </p:embeddedFont>
    <p:embeddedFont>
      <p:font typeface="Manrope Bold" panose="020B0604020202020204" charset="0"/>
      <p:regular r:id="rId16"/>
    </p:embeddedFont>
    <p:embeddedFont>
      <p:font typeface="Trebuchet MS" panose="020B0603020202020204" pitchFamily="34" charset="0"/>
      <p:regular r:id="rId17"/>
      <p:bold r:id="rId18"/>
      <p:italic r:id="rId19"/>
      <p:boldItalic r:id="rId20"/>
    </p:embeddedFont>
    <p:embeddedFont>
      <p:font typeface="Wingdings 3" panose="05040102010807070707" pitchFamily="18" charset="2"/>
      <p:regular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4404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42995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2339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232390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03145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24419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668199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 advTm="0">
        <p:fade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864310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 advTm="0">
        <p:fade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2885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 advTm="0">
        <p:fade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3736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 advTm="0">
        <p:fade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09005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280450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57587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8133758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962251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68334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423460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755161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76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 advTm="0">
        <p:fade/>
      </p:transition>
    </mc:Fallback>
  </mc:AlternateConten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2.sv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svg"/><Relationship Id="rId4" Type="http://schemas.openxmlformats.org/officeDocument/2006/relationships/image" Target="../media/image30.svg"/><Relationship Id="rId9" Type="http://schemas.openxmlformats.org/officeDocument/2006/relationships/image" Target="../media/image35.png"/><Relationship Id="rId14" Type="http://schemas.openxmlformats.org/officeDocument/2006/relationships/image" Target="../media/image40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6079" y="4653258"/>
            <a:ext cx="2575099" cy="188565"/>
          </a:xfrm>
          <a:prstGeom prst="roundRect">
            <a:avLst>
              <a:gd name="adj" fmla="val 47365"/>
            </a:avLst>
          </a:prstGeom>
          <a:solidFill>
            <a:srgbClr val="FFD7C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40" y="4697942"/>
            <a:ext cx="99194" cy="991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6995" y="4690464"/>
            <a:ext cx="2734717" cy="114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7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CODEBASICS VIRTUAL INTERNSHIP · AUGUST 2026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24719" y="395959"/>
            <a:ext cx="8151763" cy="83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4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Wavecon Telecom – </a:t>
            </a:r>
          </a:p>
          <a:p>
            <a:pPr algn="ctr">
              <a:lnSpc>
                <a:spcPct val="104000"/>
              </a:lnSpc>
            </a:pPr>
            <a:r>
              <a:rPr lang="en-US" sz="2400" dirty="0">
                <a:solidFill>
                  <a:srgbClr val="FF70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5G Business Impact Analysis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2873829" y="1472434"/>
            <a:ext cx="3633762" cy="198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33000"/>
              </a:lnSpc>
            </a:pPr>
            <a:r>
              <a:rPr lang="en-US" sz="14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Executive Dashboard Analysis · Business Intelligence &amp; Strategy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24718" y="1863403"/>
            <a:ext cx="8151763" cy="14288"/>
          </a:xfrm>
          <a:prstGeom prst="roundRect">
            <a:avLst>
              <a:gd name="adj" fmla="val 49998"/>
            </a:avLst>
          </a:prstGeom>
          <a:solidFill>
            <a:srgbClr val="55575A">
              <a:alpha val="5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2318388" y="2513184"/>
            <a:ext cx="4500423" cy="8166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33000"/>
              </a:lnSpc>
            </a:pPr>
            <a:r>
              <a:rPr lang="en-US" sz="16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Prepared by </a:t>
            </a:r>
          </a:p>
          <a:p>
            <a:pPr algn="ctr">
              <a:lnSpc>
                <a:spcPct val="133000"/>
              </a:lnSpc>
            </a:pPr>
            <a:r>
              <a:rPr lang="en-US" b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Wani Umar</a:t>
            </a:r>
            <a:r>
              <a:rPr lang="en-US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·</a:t>
            </a:r>
          </a:p>
          <a:p>
            <a:pPr algn="ctr">
              <a:lnSpc>
                <a:spcPct val="133000"/>
              </a:lnSpc>
            </a:pPr>
            <a:r>
              <a:rPr lang="en-US" sz="16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Data Analytics Intern · Codebasics Virtual Internship Program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96120" y="832396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4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Objective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20" y="1405981"/>
            <a:ext cx="8151763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Wavecon Telecom recently launched 5G services across key markets. Leadership requires a structured evaluation of the launch's commercial impact — measuring revenue shifts, KPI performance, plan adoption, and regional outcomes to guide data-driven decisions.</a:t>
            </a:r>
            <a:endParaRPr lang="en-US" sz="9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957908"/>
            <a:ext cx="123974" cy="12397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6119" y="2138883"/>
            <a:ext cx="2634555" cy="14288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8" name="Text 5"/>
          <p:cNvSpPr/>
          <p:nvPr/>
        </p:nvSpPr>
        <p:spPr>
          <a:xfrm>
            <a:off x="496119" y="2229445"/>
            <a:ext cx="2634555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Analyze Revenue Before &amp; After 5G Launch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6119" y="2691557"/>
            <a:ext cx="2634555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Quantify revenue impact by comparing pre- and post-launch performance across all markets.</a:t>
            </a:r>
            <a:endParaRPr lang="en-US" sz="9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54648" y="1957908"/>
            <a:ext cx="123974" cy="12397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54648" y="2138883"/>
            <a:ext cx="2634630" cy="14288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12" name="Text 8"/>
          <p:cNvSpPr/>
          <p:nvPr/>
        </p:nvSpPr>
        <p:spPr>
          <a:xfrm>
            <a:off x="3254648" y="2229447"/>
            <a:ext cx="2634630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Evaluate Core Business KPIs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254648" y="2497710"/>
            <a:ext cx="2634630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Assess ARPU, TAU, and TUsU to gauge subscriber engagement and monetization.</a:t>
            </a:r>
            <a:endParaRPr lang="en-US" sz="95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13252" y="1957908"/>
            <a:ext cx="123974" cy="12397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013254" y="2138883"/>
            <a:ext cx="2634555" cy="14288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16" name="Text 11"/>
          <p:cNvSpPr/>
          <p:nvPr/>
        </p:nvSpPr>
        <p:spPr>
          <a:xfrm>
            <a:off x="6013254" y="2229447"/>
            <a:ext cx="2634555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Underperforming Metrics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013254" y="2497710"/>
            <a:ext cx="2634555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Pinpoint metrics falling below targets for corrective action.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6119" y="3519413"/>
            <a:ext cx="123974" cy="12397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96119" y="3700388"/>
            <a:ext cx="4013820" cy="14288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20" name="Text 14"/>
          <p:cNvSpPr/>
          <p:nvPr/>
        </p:nvSpPr>
        <p:spPr>
          <a:xfrm>
            <a:off x="496119" y="3790950"/>
            <a:ext cx="4013820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Plan-Level Performance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496119" y="4059213"/>
            <a:ext cx="4013820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Evaluate which 5G plans drive revenue and adoption versus those underperforming.</a:t>
            </a:r>
            <a:endParaRPr lang="en-US" sz="95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33913" y="3519413"/>
            <a:ext cx="123974" cy="123974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4633915" y="3700388"/>
            <a:ext cx="4013895" cy="14288"/>
          </a:xfrm>
          <a:prstGeom prst="rect">
            <a:avLst/>
          </a:prstGeom>
          <a:solidFill>
            <a:srgbClr val="FF7047"/>
          </a:solidFill>
          <a:ln/>
        </p:spPr>
      </p:sp>
      <p:sp>
        <p:nvSpPr>
          <p:cNvPr id="24" name="Text 17"/>
          <p:cNvSpPr/>
          <p:nvPr/>
        </p:nvSpPr>
        <p:spPr>
          <a:xfrm>
            <a:off x="4633915" y="3790952"/>
            <a:ext cx="4013895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Business Actions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633915" y="4059215"/>
            <a:ext cx="4013895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Deliver actionable recommendations to optimize growth and address gaps.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96120" y="566740"/>
            <a:ext cx="8151763" cy="339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1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Dashboard Overview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496120" y="1048345"/>
            <a:ext cx="8151763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5000"/>
              </a:lnSpc>
            </a:pPr>
            <a:r>
              <a:rPr lang="en-US" sz="8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BI dashboard consolidates Wavecon's 5G performance into a single executive view — enabling real-time monitoring across revenue, subscriber metrics, plan adoption, and regional trends. Designed for C-suite consumption, it surfaces the metrics that matter most.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96119" y="1480765"/>
            <a:ext cx="4028405" cy="1036290"/>
          </a:xfrm>
          <a:prstGeom prst="roundRect">
            <a:avLst>
              <a:gd name="adj" fmla="val 9427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377" y="1594024"/>
            <a:ext cx="325562" cy="325562"/>
          </a:xfrm>
          <a:prstGeom prst="ellipse">
            <a:avLst/>
          </a:prstGeom>
          <a:solidFill>
            <a:srgbClr val="FF7047"/>
          </a:solidFill>
          <a:ln/>
        </p:spPr>
      </p:sp>
      <p:sp>
        <p:nvSpPr>
          <p:cNvPr id="8" name="Text 6"/>
          <p:cNvSpPr/>
          <p:nvPr/>
        </p:nvSpPr>
        <p:spPr>
          <a:xfrm>
            <a:off x="698897" y="1665238"/>
            <a:ext cx="146521" cy="183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09377" y="2014538"/>
            <a:ext cx="3801889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09377" y="2240979"/>
            <a:ext cx="3801889" cy="1628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8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Total monthly revenue tracked before and after 5G launch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619478" y="1480765"/>
            <a:ext cx="4028405" cy="1036290"/>
          </a:xfrm>
          <a:prstGeom prst="roundRect">
            <a:avLst>
              <a:gd name="adj" fmla="val 9427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32734" y="1594024"/>
            <a:ext cx="325562" cy="325562"/>
          </a:xfrm>
          <a:prstGeom prst="ellipse">
            <a:avLst/>
          </a:prstGeom>
          <a:solidFill>
            <a:srgbClr val="FF7047"/>
          </a:solidFill>
          <a:ln/>
        </p:spPr>
      </p:sp>
      <p:sp>
        <p:nvSpPr>
          <p:cNvPr id="13" name="Text 11"/>
          <p:cNvSpPr/>
          <p:nvPr/>
        </p:nvSpPr>
        <p:spPr>
          <a:xfrm>
            <a:off x="4822256" y="1665240"/>
            <a:ext cx="146521" cy="183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732736" y="2014540"/>
            <a:ext cx="3801889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ARPU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32736" y="2240979"/>
            <a:ext cx="3801889" cy="1628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8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Average Revenue Per User — subscriber monetization benchmark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96119" y="2612008"/>
            <a:ext cx="4028405" cy="1036290"/>
          </a:xfrm>
          <a:prstGeom prst="roundRect">
            <a:avLst>
              <a:gd name="adj" fmla="val 9427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9377" y="2725266"/>
            <a:ext cx="325562" cy="325562"/>
          </a:xfrm>
          <a:prstGeom prst="ellipse">
            <a:avLst/>
          </a:prstGeom>
          <a:solidFill>
            <a:srgbClr val="FF7047"/>
          </a:solidFill>
          <a:ln/>
        </p:spPr>
      </p:sp>
      <p:sp>
        <p:nvSpPr>
          <p:cNvPr id="18" name="Text 16"/>
          <p:cNvSpPr/>
          <p:nvPr/>
        </p:nvSpPr>
        <p:spPr>
          <a:xfrm>
            <a:off x="698897" y="2796480"/>
            <a:ext cx="146521" cy="183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09377" y="3145780"/>
            <a:ext cx="3801889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TAU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9377" y="3372222"/>
            <a:ext cx="3801889" cy="1628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8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Total Active Users — engaged subscriber base on 5G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19478" y="2612008"/>
            <a:ext cx="4028405" cy="1036290"/>
          </a:xfrm>
          <a:prstGeom prst="roundRect">
            <a:avLst>
              <a:gd name="adj" fmla="val 9427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32734" y="2725266"/>
            <a:ext cx="325562" cy="325562"/>
          </a:xfrm>
          <a:prstGeom prst="ellipse">
            <a:avLst/>
          </a:prstGeom>
          <a:solidFill>
            <a:srgbClr val="FF7047"/>
          </a:solidFill>
          <a:ln/>
        </p:spPr>
      </p:sp>
      <p:sp>
        <p:nvSpPr>
          <p:cNvPr id="23" name="Text 21"/>
          <p:cNvSpPr/>
          <p:nvPr/>
        </p:nvSpPr>
        <p:spPr>
          <a:xfrm>
            <a:off x="4822256" y="2796482"/>
            <a:ext cx="146521" cy="183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32736" y="3145782"/>
            <a:ext cx="3801889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TUsU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32736" y="3372222"/>
            <a:ext cx="3801889" cy="1628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8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Total Unique SIM Users — distinct SIM activations on network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96119" y="3743251"/>
            <a:ext cx="4028405" cy="1036290"/>
          </a:xfrm>
          <a:prstGeom prst="roundRect">
            <a:avLst>
              <a:gd name="adj" fmla="val 9427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377" y="3856509"/>
            <a:ext cx="325562" cy="325562"/>
          </a:xfrm>
          <a:prstGeom prst="ellipse">
            <a:avLst/>
          </a:prstGeom>
          <a:solidFill>
            <a:srgbClr val="FF7047"/>
          </a:solidFill>
          <a:ln/>
        </p:spPr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897" y="3946029"/>
            <a:ext cx="146521" cy="146521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09377" y="4277023"/>
            <a:ext cx="3801889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Trend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609377" y="4503465"/>
            <a:ext cx="3801889" cy="1628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8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Month-over-month performance trajectory across all KPIs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619478" y="3743251"/>
            <a:ext cx="4028405" cy="1036290"/>
          </a:xfrm>
          <a:prstGeom prst="roundRect">
            <a:avLst>
              <a:gd name="adj" fmla="val 9427"/>
            </a:avLst>
          </a:prstGeom>
          <a:solidFill>
            <a:srgbClr val="FFFFFF"/>
          </a:solidFill>
          <a:ln w="4763">
            <a:solidFill>
              <a:srgbClr val="FF704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732734" y="3856509"/>
            <a:ext cx="325562" cy="325562"/>
          </a:xfrm>
          <a:prstGeom prst="ellipse">
            <a:avLst/>
          </a:prstGeom>
          <a:solidFill>
            <a:srgbClr val="FF7047"/>
          </a:solidFill>
          <a:ln/>
        </p:spPr>
      </p:sp>
      <p:pic>
        <p:nvPicPr>
          <p:cNvPr id="33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22256" y="3946031"/>
            <a:ext cx="146521" cy="146521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4732736" y="4277025"/>
            <a:ext cx="3801889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5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City Performance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4732736" y="4503465"/>
            <a:ext cx="3801889" cy="1628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25000"/>
              </a:lnSpc>
            </a:pPr>
            <a:r>
              <a:rPr lang="en-US" sz="8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Regional revenue and adoption breakdown by geography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96120" y="553717"/>
            <a:ext cx="8151763" cy="345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1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of 5G Launch on Revenue</a:t>
            </a:r>
            <a:endParaRPr lang="en-US" sz="2150" dirty="0"/>
          </a:p>
        </p:txBody>
      </p:sp>
      <p:sp>
        <p:nvSpPr>
          <p:cNvPr id="5" name="Text 3"/>
          <p:cNvSpPr/>
          <p:nvPr/>
        </p:nvSpPr>
        <p:spPr>
          <a:xfrm>
            <a:off x="496120" y="1046559"/>
            <a:ext cx="8151763" cy="3342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6000"/>
              </a:lnSpc>
            </a:pPr>
            <a:r>
              <a:rPr lang="en-US" sz="8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Post-launch revenue shows a clear uplift trajectory. The chart below illustrates the monthly revenue trend, highlighting the inflection point following 5G activation. Leadership should note the acceleration pattern in months 3–5 post-launch, signaling strong market acceptance.</a:t>
            </a:r>
            <a:endParaRPr lang="en-US" sz="8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602135"/>
            <a:ext cx="4614788" cy="308416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221413" y="1528388"/>
            <a:ext cx="3426470" cy="1728511"/>
          </a:xfrm>
          <a:prstGeom prst="roundRect">
            <a:avLst>
              <a:gd name="adj" fmla="val 4813"/>
            </a:avLst>
          </a:prstGeom>
          <a:solidFill>
            <a:srgbClr val="FF7047"/>
          </a:solidFill>
          <a:ln/>
        </p:spPr>
      </p:sp>
      <p:sp>
        <p:nvSpPr>
          <p:cNvPr id="8" name="Text 5"/>
          <p:cNvSpPr/>
          <p:nvPr/>
        </p:nvSpPr>
        <p:spPr>
          <a:xfrm>
            <a:off x="5416081" y="1589858"/>
            <a:ext cx="3205609" cy="172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Revenue Insight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16081" y="1860872"/>
            <a:ext cx="3205609" cy="501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6000"/>
              </a:lnSpc>
            </a:pPr>
            <a:r>
              <a:rPr lang="en-US" sz="85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5G launch generated a </a:t>
            </a:r>
            <a:r>
              <a:rPr lang="en-US" sz="850" b="1" dirty="0">
                <a:solidFill>
                  <a:srgbClr val="000000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+94% revenue uplift</a:t>
            </a:r>
            <a:r>
              <a:rPr lang="en-US" sz="85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by Month 6 — from $17M to $33M — demonstrating strong commercial traction and validating the investment thesis.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16081" y="2500536"/>
            <a:ext cx="3205609" cy="14288"/>
          </a:xfrm>
          <a:prstGeom prst="roundRect">
            <a:avLst>
              <a:gd name="adj" fmla="val 49998"/>
            </a:avLst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5416081" y="2653085"/>
            <a:ext cx="3205609" cy="3342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6000"/>
              </a:lnSpc>
            </a:pPr>
            <a:r>
              <a:rPr lang="en-US" sz="85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Monthly growth accelerated post-launch, with the steepest gains in Months 4–6 as adoption matured.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96120" y="710357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4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KPI Performance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20" y="1283942"/>
            <a:ext cx="8151763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Four core KPIs define Wavecon's 5G commercial health. The comparison below benchmarks pre- and post-launch performance, highlighting areas of strength and those requiring intervention.</a:t>
            </a:r>
            <a:endParaRPr lang="en-US" sz="9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820391"/>
            <a:ext cx="4013895" cy="946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1530" y="1958653"/>
            <a:ext cx="3680222" cy="19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📈</a:t>
            </a: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Revenue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91530" y="2231678"/>
            <a:ext cx="36802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b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+94% uplift</a:t>
            </a: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post-launch. Strong month-over-month growth, driven by new subscriber additions and plan upgrades.</a:t>
            </a:r>
            <a:endParaRPr lang="en-US" sz="9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3989" y="1820391"/>
            <a:ext cx="4013895" cy="946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829398" y="1958655"/>
            <a:ext cx="3680222" cy="19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📊</a:t>
            </a: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ARPU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829398" y="2231680"/>
            <a:ext cx="36802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b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+38% increase</a:t>
            </a: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in Average Revenue Per User. 5G premium plans are successfully upselling the existing base.</a:t>
            </a:r>
            <a:endParaRPr lang="en-US" sz="9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2890838"/>
            <a:ext cx="4013895" cy="946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1530" y="3029099"/>
            <a:ext cx="3680222" cy="19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👥</a:t>
            </a: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TAU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91530" y="3302124"/>
            <a:ext cx="36802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b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+52% growth</a:t>
            </a: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in Total Active Users. Strong 5G adoption, though churn risk remains in legacy segments.</a:t>
            </a:r>
            <a:endParaRPr lang="en-US" sz="9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3989" y="2890838"/>
            <a:ext cx="4013895" cy="946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829398" y="3029101"/>
            <a:ext cx="3680222" cy="19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📱</a:t>
            </a: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TUsU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4829398" y="3302126"/>
            <a:ext cx="36802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b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+47% increase</a:t>
            </a: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in Unique SIM activations. Indicates healthy new customer acquisition alongside base migration.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496120" y="3976836"/>
            <a:ext cx="8151763" cy="694432"/>
          </a:xfrm>
          <a:prstGeom prst="roundRect">
            <a:avLst>
              <a:gd name="adj" fmla="val 16077"/>
            </a:avLst>
          </a:prstGeom>
          <a:solidFill>
            <a:srgbClr val="FFD7CC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092" y="4156621"/>
            <a:ext cx="155004" cy="12397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99072" y="4131768"/>
            <a:ext cx="7624837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b="1" dirty="0">
                <a:solidFill>
                  <a:srgbClr val="000000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Key Finding:</a:t>
            </a:r>
            <a:r>
              <a:rPr lang="en-US" sz="95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All four KPIs show positive post-launch momentum. ARPU and TAU are the strongest performers, confirming 5G's value proposition resonates with both new and existing customers.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4">
            <a:extLst>
              <a:ext uri="{FF2B5EF4-FFF2-40B4-BE49-F238E27FC236}">
                <a16:creationId xmlns:a16="http://schemas.microsoft.com/office/drawing/2014/main" id="{AB29A29D-A600-4DB9-E45A-BC6A8B17334E}"/>
              </a:ext>
            </a:extLst>
          </p:cNvPr>
          <p:cNvSpPr/>
          <p:nvPr/>
        </p:nvSpPr>
        <p:spPr>
          <a:xfrm>
            <a:off x="4662413" y="2073697"/>
            <a:ext cx="4103191" cy="2344266"/>
          </a:xfrm>
          <a:prstGeom prst="roundRect">
            <a:avLst>
              <a:gd name="adj" fmla="val 7620"/>
            </a:avLst>
          </a:prstGeom>
          <a:solidFill>
            <a:srgbClr val="FF0000"/>
          </a:solidFill>
          <a:ln/>
        </p:spPr>
      </p:sp>
      <p:sp>
        <p:nvSpPr>
          <p:cNvPr id="4" name="Text 2"/>
          <p:cNvSpPr/>
          <p:nvPr/>
        </p:nvSpPr>
        <p:spPr>
          <a:xfrm>
            <a:off x="406822" y="435749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4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Performance 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20" y="1051571"/>
            <a:ext cx="8151763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 all 5G plans are performing equally. This analysis segments plans into top performers driving growth and underperformers requiring strategic reassessment — enabling targeted resource allocation and portfolio optimization.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06822" y="2073697"/>
            <a:ext cx="4103191" cy="2344266"/>
          </a:xfrm>
          <a:prstGeom prst="roundRect">
            <a:avLst>
              <a:gd name="adj" fmla="val 7620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/>
          <p:nvPr/>
        </p:nvSpPr>
        <p:spPr>
          <a:xfrm>
            <a:off x="530796" y="2197671"/>
            <a:ext cx="3855244" cy="19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✅</a:t>
            </a:r>
            <a:r>
              <a:rPr lang="en-US" sz="12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Top Performing Plans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796" y="2520255"/>
            <a:ext cx="3855244" cy="1277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>
              <a:lnSpc>
                <a:spcPct val="133000"/>
              </a:lnSpc>
              <a:buSzPct val="100000"/>
              <a:buChar char="•"/>
            </a:pPr>
            <a:r>
              <a:rPr lang="en-US" sz="950" b="1" dirty="0">
                <a:solidFill>
                  <a:srgbClr val="000000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5G Premium Unlimited</a:t>
            </a:r>
            <a:r>
              <a:rPr lang="en-US" sz="95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Highest revenue contributor; strong adoption among enterprise and prosumer segments</a:t>
            </a:r>
            <a:endParaRPr lang="en-US" sz="950" dirty="0"/>
          </a:p>
          <a:p>
            <a:pPr marL="193040" indent="-193040">
              <a:lnSpc>
                <a:spcPct val="133000"/>
              </a:lnSpc>
              <a:buSzPct val="100000"/>
              <a:buChar char="•"/>
            </a:pPr>
            <a:r>
              <a:rPr lang="en-US" sz="950" b="1" dirty="0">
                <a:solidFill>
                  <a:srgbClr val="000000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5G Business Plus</a:t>
            </a:r>
            <a:r>
              <a:rPr lang="en-US" sz="95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Rapid growth in B2B segment; high ARPU and low churn</a:t>
            </a:r>
            <a:endParaRPr lang="en-US" sz="950" dirty="0"/>
          </a:p>
          <a:p>
            <a:pPr marL="193040" indent="-193040">
              <a:lnSpc>
                <a:spcPct val="133000"/>
              </a:lnSpc>
              <a:buSzPct val="100000"/>
              <a:buChar char="•"/>
            </a:pPr>
            <a:r>
              <a:rPr lang="en-US" sz="950" b="1" dirty="0">
                <a:solidFill>
                  <a:srgbClr val="000000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5G Starter+</a:t>
            </a:r>
            <a:r>
              <a:rPr lang="en-US" sz="95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Strong entry-level conversion; effective upsell pathway to premium tiers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30796" y="3909417"/>
            <a:ext cx="3855244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These plans share common traits: competitive pricing, clear value messaging, and strong digital onboarding.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28046" y="2197673"/>
            <a:ext cx="3924598" cy="19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⚠️</a:t>
            </a:r>
            <a:r>
              <a:rPr lang="en-US" sz="12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Underperforming Plans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28046" y="2520257"/>
            <a:ext cx="3924598" cy="1277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>
              <a:lnSpc>
                <a:spcPct val="133000"/>
              </a:lnSpc>
              <a:buSzPct val="100000"/>
              <a:buChar char="•"/>
            </a:pPr>
            <a:r>
              <a:rPr lang="en-US" sz="950" b="1" dirty="0">
                <a:solidFill>
                  <a:schemeClr val="bg1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5G Lite</a:t>
            </a:r>
            <a:r>
              <a:rPr lang="en-US" sz="95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Low adoption; unclear differentiation from 4G alternatives; price sensitivity high</a:t>
            </a:r>
            <a:endParaRPr lang="en-US" sz="950" dirty="0">
              <a:solidFill>
                <a:schemeClr val="bg1"/>
              </a:solidFill>
            </a:endParaRPr>
          </a:p>
          <a:p>
            <a:pPr marL="193040" indent="-193040">
              <a:lnSpc>
                <a:spcPct val="133000"/>
              </a:lnSpc>
              <a:buSzPct val="100000"/>
              <a:buChar char="•"/>
            </a:pPr>
            <a:r>
              <a:rPr lang="en-US" sz="950" b="1" dirty="0">
                <a:solidFill>
                  <a:schemeClr val="bg1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5G Family Share</a:t>
            </a:r>
            <a:r>
              <a:rPr lang="en-US" sz="95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Below-target revenue; complex structure deterring sign-ups</a:t>
            </a:r>
            <a:endParaRPr lang="en-US" sz="950" dirty="0">
              <a:solidFill>
                <a:schemeClr val="bg1"/>
              </a:solidFill>
            </a:endParaRPr>
          </a:p>
          <a:p>
            <a:pPr marL="193040" indent="-193040">
              <a:lnSpc>
                <a:spcPct val="133000"/>
              </a:lnSpc>
              <a:buSzPct val="100000"/>
              <a:buChar char="•"/>
            </a:pPr>
            <a:r>
              <a:rPr lang="en-US" sz="950" b="1" dirty="0">
                <a:solidFill>
                  <a:schemeClr val="bg1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5G Pay-As-You-Go</a:t>
            </a:r>
            <a:r>
              <a:rPr lang="en-US" sz="95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Minimal uptake; customer preference shifting toward unlimited models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28046" y="3909419"/>
            <a:ext cx="3924598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Recommended actions: simplify messaging, reprice, or consider sunsetting low-adoption SKUs to focus investment.</a:t>
            </a:r>
            <a:endParaRPr lang="en-US" sz="9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4">
            <a:extLst>
              <a:ext uri="{FF2B5EF4-FFF2-40B4-BE49-F238E27FC236}">
                <a16:creationId xmlns:a16="http://schemas.microsoft.com/office/drawing/2014/main" id="{B509E7D0-C73F-92DE-C681-337C7590980D}"/>
              </a:ext>
            </a:extLst>
          </p:cNvPr>
          <p:cNvSpPr/>
          <p:nvPr/>
        </p:nvSpPr>
        <p:spPr>
          <a:xfrm>
            <a:off x="5504004" y="3225256"/>
            <a:ext cx="3143877" cy="852383"/>
          </a:xfrm>
          <a:prstGeom prst="roundRect">
            <a:avLst>
              <a:gd name="adj" fmla="val 7620"/>
            </a:avLst>
          </a:prstGeom>
          <a:solidFill>
            <a:srgbClr val="FF0000"/>
          </a:solidFill>
          <a:ln/>
        </p:spPr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C95125F6-3299-AF30-BD8E-852698BB10B6}"/>
              </a:ext>
            </a:extLst>
          </p:cNvPr>
          <p:cNvSpPr/>
          <p:nvPr/>
        </p:nvSpPr>
        <p:spPr>
          <a:xfrm>
            <a:off x="5508767" y="1440375"/>
            <a:ext cx="3256410" cy="852383"/>
          </a:xfrm>
          <a:prstGeom prst="roundRect">
            <a:avLst>
              <a:gd name="adj" fmla="val 762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/>
          <p:nvPr/>
        </p:nvSpPr>
        <p:spPr>
          <a:xfrm>
            <a:off x="496120" y="549922"/>
            <a:ext cx="8151763" cy="333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0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Regional Performance Analysis</a:t>
            </a:r>
            <a:endParaRPr lang="en-US" sz="2050" dirty="0"/>
          </a:p>
        </p:txBody>
      </p:sp>
      <p:sp>
        <p:nvSpPr>
          <p:cNvPr id="5" name="Text 3"/>
          <p:cNvSpPr/>
          <p:nvPr/>
        </p:nvSpPr>
        <p:spPr>
          <a:xfrm>
            <a:off x="496120" y="1020368"/>
            <a:ext cx="8151763" cy="3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4000"/>
              </a:lnSpc>
            </a:pP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Geographic performance reveals significant variance across Wavecon's operating cities. Metro hubs are outpacing tier-2 markets, highlighting both the opportunity and the urgency of targeted regional investment strategies.</a:t>
            </a:r>
            <a:endParaRPr lang="en-US" sz="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543496"/>
            <a:ext cx="4787057" cy="3145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547940" y="1532113"/>
            <a:ext cx="3104704" cy="166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Regional Insights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547940" y="1790256"/>
            <a:ext cx="3104704" cy="4757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4000"/>
              </a:lnSpc>
            </a:pPr>
            <a:r>
              <a:rPr lang="en-US" sz="800" b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Top Performers:</a:t>
            </a: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Mumbai, Delhi, and Bangalore account for </a:t>
            </a:r>
            <a:r>
              <a:rPr lang="en-US" sz="800" b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62%</a:t>
            </a: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of total 5G revenue — reflecting strong digital infrastructure and high-income subscriber density.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547940" y="2395612"/>
            <a:ext cx="3104704" cy="14288"/>
          </a:xfrm>
          <a:prstGeom prst="roundRect">
            <a:avLst>
              <a:gd name="adj" fmla="val 49998"/>
            </a:avLst>
          </a:prstGeom>
          <a:solidFill>
            <a:srgbClr val="55575A">
              <a:alpha val="5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5547940" y="2539531"/>
            <a:ext cx="3104704" cy="4757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4000"/>
              </a:lnSpc>
            </a:pPr>
            <a:r>
              <a:rPr lang="en-US" sz="800" b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Emerging Markets:</a:t>
            </a: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Hyderabad and Chennai show strong growth momentum with untapped potential. Targeted marketing could accelerate adoption.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547940" y="3144887"/>
            <a:ext cx="3104704" cy="14288"/>
          </a:xfrm>
          <a:prstGeom prst="roundRect">
            <a:avLst>
              <a:gd name="adj" fmla="val 49998"/>
            </a:avLst>
          </a:prstGeom>
          <a:solidFill>
            <a:srgbClr val="55575A">
              <a:alpha val="50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5547940" y="3288806"/>
            <a:ext cx="3104704" cy="4757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4000"/>
              </a:lnSpc>
            </a:pPr>
            <a:r>
              <a:rPr lang="en-US" sz="800" b="1" dirty="0">
                <a:solidFill>
                  <a:schemeClr val="bg1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Attention Required:</a:t>
            </a:r>
            <a:r>
              <a:rPr lang="en-US" sz="800" dirty="0">
                <a:solidFill>
                  <a:schemeClr val="bg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Kolkata and Jaipur are significantly underperforming. Root-cause analysis on network quality, pricing, and awareness is recommended.</a:t>
            </a:r>
            <a:endParaRPr lang="en-US" sz="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73585" y="619089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4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Insights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21" y="1162868"/>
            <a:ext cx="8151763" cy="6132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5G launch has delivered measurable commercial impact. These key insights synthesize findings across revenue, customer behavior, plan performance, and regional dynamics — forming the foundation for strategic recommendations.</a:t>
            </a:r>
            <a:endParaRPr lang="en-US" sz="9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2258169"/>
            <a:ext cx="310083" cy="3100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1206" y="2258169"/>
            <a:ext cx="353325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Strong Revenue Acceleration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61206" y="2526432"/>
            <a:ext cx="3533254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Revenue grew </a:t>
            </a:r>
            <a:r>
              <a:rPr lang="en-US" sz="950" b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+94%</a:t>
            </a: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within six months of launch — a clear signal of market readiness and effective go-to-market execution.</a:t>
            </a:r>
            <a:endParaRPr lang="en-US" sz="9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49467" y="2258171"/>
            <a:ext cx="310083" cy="3100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114555" y="2258171"/>
            <a:ext cx="3533329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ARPU Uplift Confirms Premium Demand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114555" y="2526434"/>
            <a:ext cx="3533329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</a:t>
            </a:r>
            <a:r>
              <a:rPr lang="en-US" sz="950" b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+38% ARPU increase</a:t>
            </a: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validates customer willingness to pay for 5G — premium plans are resonating across segments.</a:t>
            </a:r>
            <a:endParaRPr lang="en-US" sz="9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6119" y="3369841"/>
            <a:ext cx="310083" cy="31008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1206" y="3369841"/>
            <a:ext cx="353325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Geographic Concentration Risk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961206" y="3638104"/>
            <a:ext cx="3533254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Top 3 cities drive </a:t>
            </a:r>
            <a:r>
              <a:rPr lang="en-US" sz="950" b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62% of revenue</a:t>
            </a: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 Over-reliance on metro markets creates vulnerability; tier-2 expansion is a strategic priority.</a:t>
            </a:r>
            <a:endParaRPr lang="en-US" sz="9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49467" y="3369843"/>
            <a:ext cx="310083" cy="31008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114555" y="3369843"/>
            <a:ext cx="3533329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Portfolio Needs Rationalization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114555" y="3638106"/>
            <a:ext cx="3533329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95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Three underperforming SKUs are diluting marketing focus. Portfolio simplification will improve conversion and reduce operational complexity.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96120" y="710582"/>
            <a:ext cx="8151763" cy="296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85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Strategic Recommendations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496120" y="1116360"/>
            <a:ext cx="8151763" cy="268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8000"/>
              </a:lnSpc>
            </a:pPr>
            <a:r>
              <a:rPr lang="en-US" sz="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Based on the analysis, five prioritized recommendations are proposed to maximize 5G ROI, address performance gaps, and position Wavecon for sustained growth in the next planning cycle.</a:t>
            </a:r>
            <a:endParaRPr lang="en-US" sz="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20" y="1466329"/>
            <a:ext cx="8151763" cy="569788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1953" y="1679972"/>
            <a:ext cx="142429" cy="14242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58230" y="1570808"/>
            <a:ext cx="7585174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9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 High-Performing 5G Plans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958230" y="1762720"/>
            <a:ext cx="7585174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Double down on Premium Unlimited and Business Plus with increased digital marketing spend, bundled device offers, and targeted upsell campaigns to the existing 4G base.</a:t>
            </a:r>
            <a:endParaRPr lang="en-US" sz="7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20" y="2108820"/>
            <a:ext cx="8151763" cy="56978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1953" y="2322463"/>
            <a:ext cx="142429" cy="142429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58230" y="2213299"/>
            <a:ext cx="7585174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9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Rationalize Underperforming SKUs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958230" y="2405211"/>
            <a:ext cx="7585174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Conduct a 90-day review of Lite, Family Share, and Pay-As-You-Go plans. Redesign value propositions or sunset SKUs to concentrate resources on proven winners.</a:t>
            </a:r>
            <a:endParaRPr lang="en-US" sz="7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20" y="2751311"/>
            <a:ext cx="8151763" cy="569788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1953" y="2964954"/>
            <a:ext cx="142429" cy="142429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58230" y="2855790"/>
            <a:ext cx="7585174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9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Accelerate Tier-2 City Expansion</a:t>
            </a:r>
            <a:endParaRPr lang="en-US" sz="900" dirty="0"/>
          </a:p>
        </p:txBody>
      </p:sp>
      <p:sp>
        <p:nvSpPr>
          <p:cNvPr id="17" name="Text 9"/>
          <p:cNvSpPr/>
          <p:nvPr/>
        </p:nvSpPr>
        <p:spPr>
          <a:xfrm>
            <a:off x="958230" y="3047702"/>
            <a:ext cx="7585174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Launch targeted campaigns in Hyderabad, Chennai, and Pune. Invest in local partnerships, retail presence, and community-driven awareness programs to close the metro gap.</a:t>
            </a:r>
            <a:endParaRPr lang="en-US" sz="7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20" y="3393802"/>
            <a:ext cx="8151763" cy="569788"/>
          </a:xfrm>
          <a:prstGeom prst="rect">
            <a:avLst/>
          </a:prstGeom>
        </p:spPr>
      </p:pic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1953" y="3607445"/>
            <a:ext cx="142429" cy="142429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958230" y="3498281"/>
            <a:ext cx="7585174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9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Establish Monthly KPI Governance</a:t>
            </a:r>
            <a:endParaRPr lang="en-US" sz="900" dirty="0"/>
          </a:p>
        </p:txBody>
      </p:sp>
      <p:sp>
        <p:nvSpPr>
          <p:cNvPr id="21" name="Text 11"/>
          <p:cNvSpPr/>
          <p:nvPr/>
        </p:nvSpPr>
        <p:spPr>
          <a:xfrm>
            <a:off x="958230" y="3690193"/>
            <a:ext cx="7585174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Institute a monthly executive review cadence tracking Revenue, ARPU, TAU, and TUsU. Set threshold alerts for early intervention on underperforming metrics.</a:t>
            </a:r>
            <a:endParaRPr lang="en-US" sz="7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20" y="4036293"/>
            <a:ext cx="8151763" cy="569788"/>
          </a:xfrm>
          <a:prstGeom prst="rect">
            <a:avLst/>
          </a:prstGeom>
        </p:spPr>
      </p:pic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1953" y="4249936"/>
            <a:ext cx="142429" cy="142429"/>
          </a:xfrm>
          <a:prstGeom prst="rect">
            <a:avLst/>
          </a:prstGeom>
        </p:spPr>
      </p:pic>
      <p:sp>
        <p:nvSpPr>
          <p:cNvPr id="24" name="Text 12"/>
          <p:cNvSpPr/>
          <p:nvPr/>
        </p:nvSpPr>
        <p:spPr>
          <a:xfrm>
            <a:off x="958230" y="4140773"/>
            <a:ext cx="7585174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900" dirty="0">
                <a:solidFill>
                  <a:srgbClr val="5557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Strengthen Customer Retention</a:t>
            </a:r>
            <a:endParaRPr lang="en-US" sz="900" dirty="0"/>
          </a:p>
        </p:txBody>
      </p:sp>
      <p:sp>
        <p:nvSpPr>
          <p:cNvPr id="25" name="Text 13"/>
          <p:cNvSpPr/>
          <p:nvPr/>
        </p:nvSpPr>
        <p:spPr>
          <a:xfrm>
            <a:off x="958230" y="4332684"/>
            <a:ext cx="7585174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7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Deploy predictive churn models using BI data. Introduce loyalty incentives, proactive support, and personalized plan recommendations to protect the growing subscriber base.</a:t>
            </a:r>
            <a:endParaRPr lang="en-US" sz="7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215269" y="302536"/>
            <a:ext cx="8151763" cy="320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sz="20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Summary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96120" y="1036888"/>
            <a:ext cx="8151763" cy="3003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2000"/>
              </a:lnSpc>
            </a:pP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This analysis presents a comprehensive assessment of Wavecon Telecom's 5G launch impact — covering revenue performance, KPI benchmarks, plan effectiveness, and regional dynamics. The findings confirm strong commercial traction and identify clear pathways to accelerate growth.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22151" y="1432917"/>
            <a:ext cx="4098503" cy="2242914"/>
          </a:xfrm>
          <a:prstGeom prst="roundRect">
            <a:avLst>
              <a:gd name="adj" fmla="val 6595"/>
            </a:avLst>
          </a:prstGeom>
          <a:solidFill>
            <a:srgbClr val="FF7047"/>
          </a:solidFill>
          <a:ln/>
        </p:spPr>
      </p:sp>
      <p:sp>
        <p:nvSpPr>
          <p:cNvPr id="7" name="Text 5"/>
          <p:cNvSpPr/>
          <p:nvPr/>
        </p:nvSpPr>
        <p:spPr>
          <a:xfrm>
            <a:off x="524842" y="1517972"/>
            <a:ext cx="3893121" cy="16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Problem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24842" y="1763539"/>
            <a:ext cx="3893121" cy="4505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2000"/>
              </a:lnSpc>
            </a:pPr>
            <a:r>
              <a:rPr lang="en-US" sz="8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Wavecon needed to evaluate whether its 5G launch delivered measurable commercial impact and identify areas requiring strategic intervention to sustain momentum.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4842" y="2335411"/>
            <a:ext cx="3893121" cy="14288"/>
          </a:xfrm>
          <a:prstGeom prst="roundRect">
            <a:avLst>
              <a:gd name="adj" fmla="val 49998"/>
            </a:avLst>
          </a:prstGeom>
          <a:solidFill>
            <a:srgbClr val="000000">
              <a:alpha val="5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24842" y="2471068"/>
            <a:ext cx="3893121" cy="16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Impact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24842" y="2716634"/>
            <a:ext cx="3893121" cy="3003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22000"/>
              </a:lnSpc>
            </a:pPr>
            <a:r>
              <a:rPr lang="en-US" sz="800" b="1" dirty="0">
                <a:solidFill>
                  <a:srgbClr val="000000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+94% revenue growth</a:t>
            </a:r>
            <a:r>
              <a:rPr lang="en-US" sz="8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</a:t>
            </a:r>
            <a:r>
              <a:rPr lang="en-US" sz="800" b="1" dirty="0">
                <a:solidFill>
                  <a:srgbClr val="000000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+38% ARPU uplift</a:t>
            </a:r>
            <a:r>
              <a:rPr lang="en-US" sz="8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and </a:t>
            </a:r>
            <a:r>
              <a:rPr lang="en-US" sz="800" b="1" dirty="0">
                <a:solidFill>
                  <a:srgbClr val="000000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+52% active user growth</a:t>
            </a:r>
            <a:r>
              <a:rPr lang="en-US" sz="8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confirm 5G is commercially viable and scaling rapidly.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02076" y="1517974"/>
            <a:ext cx="3950568" cy="16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02076" y="1763539"/>
            <a:ext cx="3950568" cy="8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2560" indent="-162560">
              <a:lnSpc>
                <a:spcPct val="122000"/>
              </a:lnSpc>
              <a:buSzPct val="100000"/>
              <a:buChar char="•"/>
            </a:pP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Revenue surged from $17M to $33M within six months of 5G launch</a:t>
            </a:r>
            <a:endParaRPr lang="en-US" sz="800" dirty="0"/>
          </a:p>
          <a:p>
            <a:pPr marL="162560" indent="-162560">
              <a:lnSpc>
                <a:spcPct val="122000"/>
              </a:lnSpc>
              <a:buSzPct val="100000"/>
              <a:buChar char="•"/>
            </a:pP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Premium and Business plans are the primary revenue drivers</a:t>
            </a:r>
            <a:endParaRPr lang="en-US" sz="800" dirty="0"/>
          </a:p>
          <a:p>
            <a:pPr marL="162560" indent="-162560">
              <a:lnSpc>
                <a:spcPct val="122000"/>
              </a:lnSpc>
              <a:buSzPct val="100000"/>
              <a:buChar char="•"/>
            </a:pP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Metro cities (Mumbai, Delhi, Bangalore) dominate 62% of total revenue</a:t>
            </a:r>
            <a:endParaRPr lang="en-US" sz="800" dirty="0"/>
          </a:p>
          <a:p>
            <a:pPr marL="162560" indent="-162560">
              <a:lnSpc>
                <a:spcPct val="122000"/>
              </a:lnSpc>
              <a:buSzPct val="100000"/>
              <a:buChar char="•"/>
            </a:pP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Three underperforming SKUs require portfolio rationalization</a:t>
            </a:r>
            <a:endParaRPr lang="en-US" sz="800" dirty="0"/>
          </a:p>
          <a:p>
            <a:pPr marL="162560" indent="-162560">
              <a:lnSpc>
                <a:spcPct val="122000"/>
              </a:lnSpc>
              <a:buSzPct val="100000"/>
              <a:buChar char="•"/>
            </a:pP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Tier-2 cities represent the highest untapped growth opportunity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02076" y="2754809"/>
            <a:ext cx="3950568" cy="14288"/>
          </a:xfrm>
          <a:prstGeom prst="roundRect">
            <a:avLst>
              <a:gd name="adj" fmla="val 49998"/>
            </a:avLst>
          </a:prstGeom>
          <a:solidFill>
            <a:srgbClr val="55575A">
              <a:alpha val="5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702076" y="2890467"/>
            <a:ext cx="3950568" cy="16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0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Future Actions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02076" y="3136032"/>
            <a:ext cx="3950568" cy="51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2560" indent="-162560">
              <a:lnSpc>
                <a:spcPct val="122000"/>
              </a:lnSpc>
              <a:buSzPct val="100000"/>
              <a:buChar char="•"/>
            </a:pP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Implement monthly KPI governance dashboard for leadership</a:t>
            </a:r>
            <a:endParaRPr lang="en-US" sz="800" dirty="0"/>
          </a:p>
          <a:p>
            <a:pPr marL="162560" indent="-162560">
              <a:lnSpc>
                <a:spcPct val="122000"/>
              </a:lnSpc>
              <a:buSzPct val="100000"/>
              <a:buChar char="•"/>
            </a:pP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Launch tier-2 city expansion program in Q3</a:t>
            </a:r>
            <a:endParaRPr lang="en-US" sz="800" dirty="0"/>
          </a:p>
          <a:p>
            <a:pPr marL="162560" indent="-162560">
              <a:lnSpc>
                <a:spcPct val="122000"/>
              </a:lnSpc>
              <a:buSzPct val="100000"/>
              <a:buChar char="•"/>
            </a:pPr>
            <a:r>
              <a:rPr lang="en-US" sz="8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Complete plan portfolio review and rationalization by Q4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96120" y="3797201"/>
            <a:ext cx="8151763" cy="14288"/>
          </a:xfrm>
          <a:prstGeom prst="roundRect">
            <a:avLst>
              <a:gd name="adj" fmla="val 49998"/>
            </a:avLst>
          </a:prstGeom>
          <a:solidFill>
            <a:srgbClr val="55575A">
              <a:alpha val="5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96120" y="3964709"/>
            <a:ext cx="8151763" cy="256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Tm="0">
        <p15:prstTrans prst="drape"/>
      </p:transition>
    </mc:Choice>
    <mc:Fallback xmlns="">
      <p:transition spd="slow" advTm="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2F5BC-DE9C-5CB9-1A0E-14AF2D51B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452" y="822961"/>
            <a:ext cx="7773338" cy="2410097"/>
          </a:xfrm>
        </p:spPr>
        <p:txBody>
          <a:bodyPr>
            <a:normAutofit fontScale="90000"/>
          </a:bodyPr>
          <a:lstStyle/>
          <a:p>
            <a:pPr algn="ctr">
              <a:lnSpc>
                <a:spcPct val="122000"/>
              </a:lnSpc>
              <a:spcAft>
                <a:spcPts val="750"/>
              </a:spcAft>
            </a:pPr>
            <a:r>
              <a:rPr lang="en-US" sz="28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br>
              <a:rPr lang="en-US" sz="2800" dirty="0">
                <a:solidFill>
                  <a:srgbClr val="0C0D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</a:br>
            <a:br>
              <a:rPr lang="en-US" sz="2800" dirty="0"/>
            </a:br>
            <a:r>
              <a:rPr lang="en-US" sz="13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Questions &amp; Discussion</a:t>
            </a:r>
            <a:br>
              <a:rPr lang="en-US" sz="1300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</a:br>
            <a:br>
              <a:rPr lang="en-US" sz="1300" dirty="0"/>
            </a:br>
            <a:r>
              <a:rPr lang="en-US" sz="1300" i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Prepared by </a:t>
            </a:r>
            <a:r>
              <a:rPr lang="en-US" sz="1300" b="1" i="1" dirty="0">
                <a:solidFill>
                  <a:srgbClr val="55575A"/>
                </a:solidFill>
                <a:latin typeface="Manrope Bold" pitchFamily="34" charset="0"/>
                <a:ea typeface="Manrope Bold" pitchFamily="34" charset="-122"/>
                <a:cs typeface="Manrope Bold" pitchFamily="34" charset="-120"/>
              </a:rPr>
              <a:t>Wani Umar</a:t>
            </a:r>
            <a:r>
              <a:rPr lang="en-US" sz="1300" i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· </a:t>
            </a:r>
            <a:br>
              <a:rPr lang="en-US" sz="1300" i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</a:br>
            <a:br>
              <a:rPr lang="en-US" sz="1300" i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</a:br>
            <a:r>
              <a:rPr lang="en-US" sz="1300" i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Data Analytics Intern · </a:t>
            </a:r>
            <a:br>
              <a:rPr lang="en-US" sz="1300" i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</a:br>
            <a:br>
              <a:rPr lang="en-US" sz="1300" i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</a:br>
            <a:r>
              <a:rPr lang="en-US" sz="1300" i="1" dirty="0" err="1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Codebasics</a:t>
            </a:r>
            <a:r>
              <a:rPr lang="en-US" sz="1300" i="1" dirty="0">
                <a:solidFill>
                  <a:srgbClr val="55575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Virtual Internship | August 2026</a:t>
            </a:r>
            <a:br>
              <a:rPr lang="en-US" sz="2800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331004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 advTm="0">
        <p:fade/>
      </p:transition>
    </mc:Fallback>
  </mc:AlternateContent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23</TotalTime>
  <Words>1302</Words>
  <Application>Microsoft Office PowerPoint</Application>
  <PresentationFormat>On-screen Show (16:9)</PresentationFormat>
  <Paragraphs>120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Manrope</vt:lpstr>
      <vt:lpstr>Manrope Bold</vt:lpstr>
      <vt:lpstr>Inter</vt:lpstr>
      <vt:lpstr>Wingdings 3</vt:lpstr>
      <vt:lpstr>Trebuchet MS</vt:lpstr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 Questions &amp; Discussion  Prepared by Wani Umar ·   Data Analytics Intern ·   Codebasics Virtual Internship | August 2026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UM AR</cp:lastModifiedBy>
  <cp:revision>3</cp:revision>
  <dcterms:created xsi:type="dcterms:W3CDTF">2026-08-04T17:12:10Z</dcterms:created>
  <dcterms:modified xsi:type="dcterms:W3CDTF">2026-08-05T18:18:31Z</dcterms:modified>
</cp:coreProperties>
</file>